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nna Alson" initials="JA" lastIdx="1" clrIdx="0">
    <p:extLst>
      <p:ext uri="{19B8F6BF-5375-455C-9EA6-DF929625EA0E}">
        <p15:presenceInfo xmlns:p15="http://schemas.microsoft.com/office/powerpoint/2012/main" userId="S::jalson@uw.edu::1585b068-4542-4005-a689-e0202067dc43" providerId="AD"/>
      </p:ext>
    </p:extLst>
  </p:cmAuthor>
  <p:cmAuthor id="2" name="Julianna Alson" initials="JA [2]" lastIdx="6" clrIdx="1">
    <p:extLst>
      <p:ext uri="{19B8F6BF-5375-455C-9EA6-DF929625EA0E}">
        <p15:presenceInfo xmlns:p15="http://schemas.microsoft.com/office/powerpoint/2012/main" userId="S::jalson_uw.edu#ext#@adminliveunc.onmicrosoft.com::248325b2-1f1f-4762-a438-e01b97d72e13" providerId="AD"/>
      </p:ext>
    </p:extLst>
  </p:cmAuthor>
  <p:cmAuthor id="3" name="Kemi M Doll" initials="KD" lastIdx="1" clrIdx="2">
    <p:extLst>
      <p:ext uri="{19B8F6BF-5375-455C-9EA6-DF929625EA0E}">
        <p15:presenceInfo xmlns:p15="http://schemas.microsoft.com/office/powerpoint/2012/main" userId="S::kdoll_uw.edu#ext#@adminliveunc.onmicrosoft.com::dfe73f88-5a78-4582-a801-b02def83cc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0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27991F-F8CB-450C-9ACF-34B725B28BF9}" v="5" dt="2020-07-23T17:00:15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2"/>
    <p:restoredTop sz="94665"/>
  </p:normalViewPr>
  <p:slideViewPr>
    <p:cSldViewPr snapToGrid="0" snapToObjects="1">
      <p:cViewPr>
        <p:scale>
          <a:sx n="120" d="100"/>
          <a:sy n="120" d="100"/>
        </p:scale>
        <p:origin x="72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ommentAuthors" Target="commentAuthor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3-02T15:22:58.129" idx="2">
    <p:pos x="1847" y="661"/>
    <p:text>myomectomy, UAE, EA, IUD removal, IUD re-insertion, hysterectomy, none</p:text>
    <p:extLst>
      <p:ext uri="{C676402C-5697-4E1C-873F-D02D1690AC5C}">
        <p15:threadingInfo xmlns:p15="http://schemas.microsoft.com/office/powerpoint/2012/main" timeZoneBias="480"/>
      </p:ext>
    </p:extLst>
  </p:cm>
  <p:cm authorId="2" dt="2020-03-02T15:27:07.314" idx="3">
    <p:pos x="1847" y="757"/>
    <p:text>each can occur more than once</p:text>
    <p:extLst>
      <p:ext uri="{C676402C-5697-4E1C-873F-D02D1690AC5C}">
        <p15:threadingInfo xmlns:p15="http://schemas.microsoft.com/office/powerpoint/2012/main" timeZoneBias="480">
          <p15:parentCm authorId="2" idx="2"/>
        </p15:threadingInfo>
      </p:ext>
    </p:extLst>
  </p:cm>
  <p:cm authorId="3" dt="2020-03-08T11:02:46.222" idx="1">
    <p:pos x="1847" y="853"/>
    <p:text>This looks great. Exactly what i had in mind</p:text>
    <p:extLst>
      <p:ext uri="{C676402C-5697-4E1C-873F-D02D1690AC5C}">
        <p15:threadingInfo xmlns:p15="http://schemas.microsoft.com/office/powerpoint/2012/main" timeZoneBias="420">
          <p15:parentCm authorId="2" idx="2"/>
        </p15:threadingInfo>
      </p:ext>
    </p:extLst>
  </p:cm>
  <p:cm authorId="2" dt="2020-05-15T09:32:21.447" idx="5">
    <p:pos x="5498" y="98"/>
    <p:text>need to determine what gap period is. 6 months? 3 months?</p:text>
    <p:extLst>
      <p:ext uri="{C676402C-5697-4E1C-873F-D02D1690AC5C}">
        <p15:threadingInfo xmlns:p15="http://schemas.microsoft.com/office/powerpoint/2012/main" timeZoneBias="420"/>
      </p:ext>
    </p:extLst>
  </p:cm>
  <p:cm authorId="2" dt="2020-05-15T09:34:25.341" idx="6">
    <p:pos x="832" y="112"/>
    <p:text>likely all procedure and timeline information will be entered at the beginning of abstraction and forms will be visible depending on selections.</p:text>
    <p:extLst>
      <p:ext uri="{C676402C-5697-4E1C-873F-D02D1690AC5C}">
        <p15:threadingInfo xmlns:p15="http://schemas.microsoft.com/office/powerpoint/2012/main" timeZoneBias="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0D0-6CF8-3C4E-8EA8-53F93DBF1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81245-66E1-1E4A-8862-A8F6C2085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1E4D7-17B7-4E48-98A9-1DEEC973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76F7-35C4-8E49-8311-C3EED728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104C-7FC1-A44F-932F-FD481C7A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E975-6892-0B49-B377-1171AB75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3044-1ECD-9441-9D17-2A5BD5373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69972-7404-B344-BDE0-1686CC9B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2448B-6D2F-CD46-B59B-DE2FC62B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281B9-0C80-BD43-B1C1-C444D9E8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3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2FE0-3F1C-E24C-AB3C-0440516D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8056D-E0D3-8D45-A7C7-5EDDE6195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0399-BB5C-AE43-8E89-F7BD90E4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616B-9E70-DB45-9103-D0E1F2C5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E2DCE-05A5-AA4E-8FE5-B6C01E61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DF9D-F87F-F144-AECF-7C8A469E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8103F-BC98-2445-A28A-69463065E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5D37A-C8F0-2642-BB53-88E4DC706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EF471-6EC2-8E4C-9382-66B8F532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87062-4C55-2348-B287-E39129B9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B3067-ABD1-7F42-8040-E92FF625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4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45AA-7279-B64D-8CF0-4659FDB4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55342-AEA1-B844-B433-502D0304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2DA30-6A2B-AC40-9B65-90DCD9A0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56617-2595-EE42-92E0-9A7A291B1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58C0A-9F52-9144-9FB2-96520EE53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4BB80-EE4B-9842-B1F8-06F0F0E9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AC48-D432-9041-9841-B1914043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F580A-E010-144B-AE3C-CA36E6E7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4F3B-47A3-DC4D-A029-32238717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F7AE1-C954-FE45-A88A-86E02886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6473D-6FC1-E64B-8F08-438EC6B7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54003-7AB9-D749-A061-ECF75F03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8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7CB4A-5658-3144-92A2-586BA45C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27116-BEAE-8D4D-BBD0-C8D00C4F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06C8D-20AB-BD4E-AD9F-9FDF1C7B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3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7548-4EC0-2A4C-AA99-C6E66316C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8B5A-8147-C34D-9FC8-CA275233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BAC8C-3A9E-E942-A945-897C7C9D3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63B2A-0048-134F-9E8F-4695D1DC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F66AC-F44A-5547-8851-7F8AF904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16508-D281-864F-96F5-99439DE3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5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C503-AC7E-8646-BFE2-2222418D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AC107-911A-4945-8B9C-F2A5DBE36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B084B-033B-294D-849B-520E02675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13FE4-B36F-1545-A13D-BE030FCF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3448A-D0AA-7845-BA52-2F2871E6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EF925-3B51-7647-A71E-FBD0435E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8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68C2-7A92-D84B-B0A8-E4A9F8DC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D1FC4-4E06-3740-AD05-E6728CEF6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C7BCE-7FEB-7145-8B8B-F9AAC203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D2047-1F53-A04E-94A7-B65BFCEE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24A4-F417-864C-9ACB-39F2684D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9E0BA-0354-B94A-B787-7E67C018A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101C4-DC79-784C-83C4-296625B8B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945E7-E2F2-A442-8906-B189E506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B8B09-68F3-C34B-9729-E31EB3B1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DA523-1FDE-A94A-A1DF-D2E88501E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03307-C1A1-164F-A815-EBCC4E5E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5396A-3357-1D4D-BFEB-F3C0969B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C8238-79D6-BF45-AF20-7944560BB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740A9-180D-4C43-BF4B-3F94D018FA4B}" type="datetimeFigureOut">
              <a:rPr lang="en-US" smtClean="0"/>
              <a:t>2/2/2021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1E42E-0A0E-FB41-9987-1396C085B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889A-6D87-7D47-A377-1043E440E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3E69-6519-FC48-9A45-4436AD6FB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3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F791F0-27ED-8249-A9AB-B441F223A879}"/>
              </a:ext>
            </a:extLst>
          </p:cNvPr>
          <p:cNvSpPr/>
          <p:nvPr/>
        </p:nvSpPr>
        <p:spPr>
          <a:xfrm>
            <a:off x="109054" y="182578"/>
            <a:ext cx="1228813" cy="3483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START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IUD INSERTION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Collect: </a:t>
            </a:r>
            <a:r>
              <a:rPr lang="en-US" sz="1400" dirty="0"/>
              <a:t>indication, loc, dx/</a:t>
            </a:r>
            <a:r>
              <a:rPr lang="en-US" sz="1400" dirty="0" err="1"/>
              <a:t>sx</a:t>
            </a:r>
            <a:r>
              <a:rPr lang="en-US" sz="1400" dirty="0"/>
              <a:t> </a:t>
            </a:r>
            <a:r>
              <a:rPr lang="en-US" sz="1400" dirty="0" err="1"/>
              <a:t>ob</a:t>
            </a:r>
            <a:r>
              <a:rPr lang="en-US" sz="1400" dirty="0"/>
              <a:t>/med hx, </a:t>
            </a:r>
            <a:r>
              <a:rPr lang="en-US" sz="1400" dirty="0" err="1"/>
              <a:t>tx</a:t>
            </a:r>
            <a:r>
              <a:rPr lang="en-US" sz="1400" dirty="0"/>
              <a:t>, uterine size (largest from imaging or exam), fertility intentions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99D62F51-61E5-F742-87A3-1725BE5322A1}"/>
              </a:ext>
            </a:extLst>
          </p:cNvPr>
          <p:cNvSpPr/>
          <p:nvPr/>
        </p:nvSpPr>
        <p:spPr>
          <a:xfrm rot="16200000">
            <a:off x="1229914" y="217821"/>
            <a:ext cx="700644" cy="484737"/>
          </a:xfrm>
          <a:prstGeom prst="down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46BC0-074C-7440-A442-80FAF6618899}"/>
              </a:ext>
            </a:extLst>
          </p:cNvPr>
          <p:cNvSpPr/>
          <p:nvPr/>
        </p:nvSpPr>
        <p:spPr>
          <a:xfrm>
            <a:off x="1822604" y="163759"/>
            <a:ext cx="6919503" cy="856933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What is the next procedure on the pull list within ‘X’ months?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EDC31910-54C3-CF43-BD45-17A7BF23EB0E}"/>
              </a:ext>
            </a:extLst>
          </p:cNvPr>
          <p:cNvSpPr/>
          <p:nvPr/>
        </p:nvSpPr>
        <p:spPr>
          <a:xfrm rot="16200000">
            <a:off x="9219619" y="-294935"/>
            <a:ext cx="482513" cy="1437538"/>
          </a:xfrm>
          <a:prstGeom prst="down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en-US" sz="1600" dirty="0" err="1"/>
              <a:t>Hyst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63679-1FEC-D340-9EF8-2F1407C83A63}"/>
              </a:ext>
            </a:extLst>
          </p:cNvPr>
          <p:cNvSpPr/>
          <p:nvPr/>
        </p:nvSpPr>
        <p:spPr>
          <a:xfrm>
            <a:off x="10183700" y="182578"/>
            <a:ext cx="1925381" cy="188175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OPERATIVE NOTE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Collect: </a:t>
            </a:r>
            <a:r>
              <a:rPr lang="en-US" sz="1400" dirty="0"/>
              <a:t>Indication, fertility intentions, gyn </a:t>
            </a:r>
            <a:r>
              <a:rPr lang="en-US" sz="1400" dirty="0" err="1"/>
              <a:t>sx</a:t>
            </a:r>
            <a:r>
              <a:rPr lang="en-US" sz="1400" dirty="0"/>
              <a:t>/dx, med/</a:t>
            </a:r>
            <a:r>
              <a:rPr lang="en-US" sz="1400" dirty="0" err="1"/>
              <a:t>ob</a:t>
            </a:r>
            <a:r>
              <a:rPr lang="en-US" sz="1400" dirty="0"/>
              <a:t> hx, IUD complications/expulsion, prior </a:t>
            </a:r>
            <a:r>
              <a:rPr lang="en-US" sz="1400" dirty="0" err="1"/>
              <a:t>tx</a:t>
            </a:r>
            <a:r>
              <a:rPr lang="en-US" sz="1400" dirty="0"/>
              <a:t>, uterine size (path)</a:t>
            </a:r>
            <a:endParaRPr lang="en-US" b="1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BF8B3AD0-73A5-6F45-98C8-678BAB8D6EFD}"/>
              </a:ext>
            </a:extLst>
          </p:cNvPr>
          <p:cNvSpPr/>
          <p:nvPr/>
        </p:nvSpPr>
        <p:spPr>
          <a:xfrm>
            <a:off x="1744119" y="1047733"/>
            <a:ext cx="1348635" cy="1004587"/>
          </a:xfrm>
          <a:prstGeom prst="downArrow">
            <a:avLst>
              <a:gd name="adj1" fmla="val 45402"/>
              <a:gd name="adj2" fmla="val 5121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Non-</a:t>
            </a:r>
            <a:r>
              <a:rPr lang="en-US" sz="1400" dirty="0" err="1"/>
              <a:t>hyst</a:t>
            </a:r>
            <a:r>
              <a:rPr lang="en-US" sz="1400" dirty="0"/>
              <a:t> proc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92F42C-D9ED-A642-98E2-E2D46D6743F1}"/>
              </a:ext>
            </a:extLst>
          </p:cNvPr>
          <p:cNvSpPr/>
          <p:nvPr/>
        </p:nvSpPr>
        <p:spPr>
          <a:xfrm>
            <a:off x="1748978" y="2059417"/>
            <a:ext cx="1351399" cy="460092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PROC NOTE</a:t>
            </a:r>
          </a:p>
          <a:p>
            <a:pPr algn="ctr"/>
            <a:r>
              <a:rPr lang="en-US" sz="1000" b="1">
                <a:cs typeface="Calibri"/>
              </a:rPr>
              <a:t>Mymectomy/UAE/EA</a:t>
            </a:r>
          </a:p>
          <a:p>
            <a:pPr algn="ctr" fontAlgn="base"/>
            <a:r>
              <a:rPr lang="en-US" sz="1600" b="1" dirty="0"/>
              <a:t>Collect:</a:t>
            </a:r>
            <a:r>
              <a:rPr lang="en-US" sz="1600" dirty="0"/>
              <a:t> </a:t>
            </a:r>
            <a:r>
              <a:rPr lang="en-US" sz="1400" dirty="0"/>
              <a:t>Indication; fertility intentions; Gyn </a:t>
            </a:r>
            <a:r>
              <a:rPr lang="en-US" sz="1400" dirty="0" err="1"/>
              <a:t>sx</a:t>
            </a:r>
            <a:r>
              <a:rPr lang="en-US" sz="1400" dirty="0"/>
              <a:t>/dx, med hx, </a:t>
            </a:r>
            <a:r>
              <a:rPr lang="en-US" sz="1400" dirty="0" err="1"/>
              <a:t>ob</a:t>
            </a:r>
            <a:r>
              <a:rPr lang="en-US" sz="1400" dirty="0"/>
              <a:t> hx; IUD complications/expulsion; prior </a:t>
            </a:r>
            <a:r>
              <a:rPr lang="en-US" sz="1400" dirty="0" err="1"/>
              <a:t>tx</a:t>
            </a:r>
            <a:r>
              <a:rPr lang="en-US" sz="1400" dirty="0"/>
              <a:t>; largest uterine size from imaging &amp; exam</a:t>
            </a:r>
            <a:endParaRPr lang="en-US" sz="1400" dirty="0">
              <a:cs typeface="Calibri"/>
            </a:endParaRPr>
          </a:p>
          <a:p>
            <a:pPr algn="ctr"/>
            <a:r>
              <a:rPr lang="en-US" sz="1400" dirty="0"/>
              <a:t>Proc-specific (e.g., if myomectomy, weight of fibroids removed)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2A121B-24B8-A347-9687-0462CFC956EC}"/>
              </a:ext>
            </a:extLst>
          </p:cNvPr>
          <p:cNvSpPr/>
          <p:nvPr/>
        </p:nvSpPr>
        <p:spPr>
          <a:xfrm>
            <a:off x="3846895" y="2005084"/>
            <a:ext cx="1265635" cy="211415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REMOVAL NOTE</a:t>
            </a:r>
          </a:p>
          <a:p>
            <a:pPr algn="ctr"/>
            <a:endParaRPr lang="en-US" sz="800" b="1" dirty="0"/>
          </a:p>
          <a:p>
            <a:pPr algn="ctr"/>
            <a:r>
              <a:rPr lang="en-US" sz="1400" b="1" dirty="0"/>
              <a:t>Collect: </a:t>
            </a:r>
            <a:r>
              <a:rPr lang="en-US" sz="1400" dirty="0"/>
              <a:t>Indication for removal; dx/</a:t>
            </a:r>
            <a:r>
              <a:rPr lang="en-US" sz="1400" dirty="0" err="1"/>
              <a:t>sx</a:t>
            </a:r>
            <a:r>
              <a:rPr lang="en-US" sz="1400" dirty="0"/>
              <a:t>, </a:t>
            </a:r>
            <a:r>
              <a:rPr lang="en-US" sz="1400" dirty="0" err="1"/>
              <a:t>ob</a:t>
            </a:r>
            <a:r>
              <a:rPr lang="en-US" sz="1400" dirty="0"/>
              <a:t>/med hx, </a:t>
            </a:r>
            <a:r>
              <a:rPr lang="en-US" sz="1400" dirty="0" err="1"/>
              <a:t>tx</a:t>
            </a:r>
            <a:r>
              <a:rPr lang="en-US" sz="1400" dirty="0"/>
              <a:t>, fertility intentions </a:t>
            </a:r>
            <a:endParaRPr lang="en-US" sz="1400" b="1" dirty="0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C6E0A3D9-5EA7-2B4E-A6F7-E04707D0E578}"/>
              </a:ext>
            </a:extLst>
          </p:cNvPr>
          <p:cNvSpPr/>
          <p:nvPr/>
        </p:nvSpPr>
        <p:spPr>
          <a:xfrm>
            <a:off x="4173798" y="4119238"/>
            <a:ext cx="500072" cy="322131"/>
          </a:xfrm>
          <a:prstGeom prst="down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C6C13D-E838-C646-95B3-63076CD341FF}"/>
              </a:ext>
            </a:extLst>
          </p:cNvPr>
          <p:cNvSpPr/>
          <p:nvPr/>
        </p:nvSpPr>
        <p:spPr>
          <a:xfrm>
            <a:off x="3991842" y="4441372"/>
            <a:ext cx="889484" cy="86850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IUD reinsert at time of removal?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CFC92-3495-974B-BA4D-F0C9D1FAA891}"/>
              </a:ext>
            </a:extLst>
          </p:cNvPr>
          <p:cNvSpPr/>
          <p:nvPr/>
        </p:nvSpPr>
        <p:spPr>
          <a:xfrm>
            <a:off x="5494901" y="2023669"/>
            <a:ext cx="960263" cy="466388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RE-INSERT NOTE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400" b="1" dirty="0"/>
              <a:t>Collect: </a:t>
            </a:r>
            <a:r>
              <a:rPr lang="en-US" sz="1200" dirty="0"/>
              <a:t>Reason for IUD loss (date); loc of re-insert; IUD complications; dx/</a:t>
            </a:r>
            <a:r>
              <a:rPr lang="en-US" sz="1200" dirty="0" err="1"/>
              <a:t>sx</a:t>
            </a:r>
            <a:r>
              <a:rPr lang="en-US" sz="1200" dirty="0"/>
              <a:t>; fertility intentions  </a:t>
            </a:r>
            <a:r>
              <a:rPr lang="en-US" sz="1200" dirty="0" err="1"/>
              <a:t>ob</a:t>
            </a:r>
            <a:r>
              <a:rPr lang="en-US" sz="1200" dirty="0"/>
              <a:t> hx; med hx, </a:t>
            </a:r>
            <a:r>
              <a:rPr lang="en-US" sz="1200" dirty="0" err="1"/>
              <a:t>tx</a:t>
            </a:r>
            <a:r>
              <a:rPr lang="en-US" sz="1200" dirty="0"/>
              <a:t>, uterine size</a:t>
            </a:r>
            <a:endParaRPr lang="en-US" sz="1200" b="1" dirty="0">
              <a:cs typeface="Calibri" panose="020F0502020204030204"/>
            </a:endParaRP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ED400668-AF29-1E46-B093-597D6EAC2FDA}"/>
              </a:ext>
            </a:extLst>
          </p:cNvPr>
          <p:cNvSpPr/>
          <p:nvPr/>
        </p:nvSpPr>
        <p:spPr>
          <a:xfrm>
            <a:off x="7107550" y="1020403"/>
            <a:ext cx="1376993" cy="1014245"/>
          </a:xfrm>
          <a:prstGeom prst="downArrow">
            <a:avLst>
              <a:gd name="adj1" fmla="val 50000"/>
              <a:gd name="adj2" fmla="val 5136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1FA571-0F7E-854D-8E04-A0C5407C69B0}"/>
              </a:ext>
            </a:extLst>
          </p:cNvPr>
          <p:cNvSpPr/>
          <p:nvPr/>
        </p:nvSpPr>
        <p:spPr>
          <a:xfrm>
            <a:off x="7048594" y="2059416"/>
            <a:ext cx="1426210" cy="4604973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cs typeface="Calibri"/>
              </a:rPr>
              <a:t>General Notes</a:t>
            </a:r>
            <a:endParaRPr lang="en-US" b="1" dirty="0">
              <a:cs typeface="Calibri"/>
            </a:endParaRPr>
          </a:p>
          <a:p>
            <a:pPr algn="ctr"/>
            <a:r>
              <a:rPr lang="en-US" sz="1400" dirty="0"/>
              <a:t>every ‘Y’ months until next proc or study period end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Collect </a:t>
            </a:r>
          </a:p>
          <a:p>
            <a:pPr algn="ctr"/>
            <a:r>
              <a:rPr lang="en-US" sz="1400" dirty="0"/>
              <a:t>Gyn </a:t>
            </a:r>
            <a:r>
              <a:rPr lang="en-US" sz="1400" dirty="0" err="1"/>
              <a:t>sx</a:t>
            </a:r>
            <a:r>
              <a:rPr lang="en-US" sz="1400" dirty="0"/>
              <a:t>/dx, </a:t>
            </a:r>
            <a:r>
              <a:rPr lang="en-US" sz="1400" dirty="0" err="1"/>
              <a:t>ob</a:t>
            </a:r>
            <a:r>
              <a:rPr lang="en-US" sz="1400" dirty="0"/>
              <a:t>/med hx, fertility intentions, IUD complications/expulsion, prior </a:t>
            </a:r>
            <a:r>
              <a:rPr lang="en-US" sz="1400" dirty="0" err="1"/>
              <a:t>tx</a:t>
            </a:r>
            <a:r>
              <a:rPr lang="en-US" sz="1400" dirty="0"/>
              <a:t>, uterine size</a:t>
            </a:r>
            <a:endParaRPr lang="en-US" sz="1400" b="1" dirty="0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607E571A-0244-B64E-9297-C6673F6CE58C}"/>
              </a:ext>
            </a:extLst>
          </p:cNvPr>
          <p:cNvSpPr/>
          <p:nvPr/>
        </p:nvSpPr>
        <p:spPr>
          <a:xfrm>
            <a:off x="4148750" y="5333392"/>
            <a:ext cx="525120" cy="462497"/>
          </a:xfrm>
          <a:prstGeom prst="downArrow">
            <a:avLst>
              <a:gd name="adj1" fmla="val 74364"/>
              <a:gd name="adj2" fmla="val 3762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A8661-6EFC-4344-8F92-6CA832090454}"/>
              </a:ext>
            </a:extLst>
          </p:cNvPr>
          <p:cNvSpPr/>
          <p:nvPr/>
        </p:nvSpPr>
        <p:spPr>
          <a:xfrm>
            <a:off x="3846896" y="5795889"/>
            <a:ext cx="1265634" cy="86850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REMOVAL NOTE</a:t>
            </a:r>
          </a:p>
          <a:p>
            <a:pPr algn="ctr"/>
            <a:r>
              <a:rPr lang="en-US" sz="1400" dirty="0"/>
              <a:t>Record reinsertion</a:t>
            </a:r>
          </a:p>
        </p:txBody>
      </p:sp>
      <p:sp>
        <p:nvSpPr>
          <p:cNvPr id="32" name="Bent-Up Arrow 31">
            <a:extLst>
              <a:ext uri="{FF2B5EF4-FFF2-40B4-BE49-F238E27FC236}">
                <a16:creationId xmlns:a16="http://schemas.microsoft.com/office/drawing/2014/main" id="{58077E15-3EAD-9F4C-AEFC-3A9897AFBD88}"/>
              </a:ext>
            </a:extLst>
          </p:cNvPr>
          <p:cNvSpPr/>
          <p:nvPr/>
        </p:nvSpPr>
        <p:spPr>
          <a:xfrm>
            <a:off x="5111925" y="5009689"/>
            <a:ext cx="263706" cy="1638281"/>
          </a:xfrm>
          <a:prstGeom prst="bentUpArrow">
            <a:avLst>
              <a:gd name="adj1" fmla="val 28433"/>
              <a:gd name="adj2" fmla="val 28788"/>
              <a:gd name="adj3" fmla="val 5000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13B0ACDC-574D-9F46-955D-267AC948F2A5}"/>
              </a:ext>
            </a:extLst>
          </p:cNvPr>
          <p:cNvSpPr/>
          <p:nvPr/>
        </p:nvSpPr>
        <p:spPr>
          <a:xfrm>
            <a:off x="3894867" y="1044211"/>
            <a:ext cx="1273667" cy="966640"/>
          </a:xfrm>
          <a:prstGeom prst="downArrow">
            <a:avLst>
              <a:gd name="adj1" fmla="val 65424"/>
              <a:gd name="adj2" fmla="val 448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IUD </a:t>
            </a:r>
          </a:p>
          <a:p>
            <a:pPr algn="ctr"/>
            <a:r>
              <a:rPr lang="en-US" sz="1200" dirty="0"/>
              <a:t>Removal</a:t>
            </a: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9BB2E040-D4D4-DE44-8018-0EA324023A03}"/>
              </a:ext>
            </a:extLst>
          </p:cNvPr>
          <p:cNvSpPr/>
          <p:nvPr/>
        </p:nvSpPr>
        <p:spPr>
          <a:xfrm>
            <a:off x="5415571" y="1047733"/>
            <a:ext cx="1050750" cy="964634"/>
          </a:xfrm>
          <a:prstGeom prst="downArrow">
            <a:avLst>
              <a:gd name="adj1" fmla="val 60949"/>
              <a:gd name="adj2" fmla="val 51217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IUD Re-insert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FCFA1F-79F7-D145-BBCE-AB1F7F345F27}"/>
              </a:ext>
            </a:extLst>
          </p:cNvPr>
          <p:cNvSpPr/>
          <p:nvPr/>
        </p:nvSpPr>
        <p:spPr>
          <a:xfrm>
            <a:off x="8841002" y="2059417"/>
            <a:ext cx="1286738" cy="695795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END</a:t>
            </a:r>
          </a:p>
        </p:txBody>
      </p:sp>
      <p:sp>
        <p:nvSpPr>
          <p:cNvPr id="54" name="Bent-Up Arrow 53">
            <a:extLst>
              <a:ext uri="{FF2B5EF4-FFF2-40B4-BE49-F238E27FC236}">
                <a16:creationId xmlns:a16="http://schemas.microsoft.com/office/drawing/2014/main" id="{E4F6792A-51AC-0D4A-98E3-522EF50F18F8}"/>
              </a:ext>
            </a:extLst>
          </p:cNvPr>
          <p:cNvSpPr/>
          <p:nvPr/>
        </p:nvSpPr>
        <p:spPr>
          <a:xfrm rot="16200000" flipH="1">
            <a:off x="10426950" y="1765129"/>
            <a:ext cx="555224" cy="1153641"/>
          </a:xfrm>
          <a:prstGeom prst="bentUpArrow">
            <a:avLst>
              <a:gd name="adj1" fmla="val 32050"/>
              <a:gd name="adj2" fmla="val 25538"/>
              <a:gd name="adj3" fmla="val 3453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D1B016-F51C-4746-963F-3B184EDCFD25}"/>
              </a:ext>
            </a:extLst>
          </p:cNvPr>
          <p:cNvGrpSpPr/>
          <p:nvPr/>
        </p:nvGrpSpPr>
        <p:grpSpPr>
          <a:xfrm>
            <a:off x="8640830" y="661346"/>
            <a:ext cx="1342674" cy="1431746"/>
            <a:chOff x="8641702" y="701657"/>
            <a:chExt cx="1528029" cy="2337877"/>
          </a:xfrm>
        </p:grpSpPr>
        <p:sp>
          <p:nvSpPr>
            <p:cNvPr id="52" name="Bent-Up Arrow 51">
              <a:extLst>
                <a:ext uri="{FF2B5EF4-FFF2-40B4-BE49-F238E27FC236}">
                  <a16:creationId xmlns:a16="http://schemas.microsoft.com/office/drawing/2014/main" id="{0D51A3A6-FD1F-3A49-BFE9-82D759FC1F0D}"/>
                </a:ext>
              </a:extLst>
            </p:cNvPr>
            <p:cNvSpPr/>
            <p:nvPr/>
          </p:nvSpPr>
          <p:spPr>
            <a:xfrm rot="10800000" flipH="1">
              <a:off x="8712492" y="713037"/>
              <a:ext cx="1457239" cy="2326497"/>
            </a:xfrm>
            <a:prstGeom prst="bentUpArrow">
              <a:avLst>
                <a:gd name="adj1" fmla="val 19918"/>
                <a:gd name="adj2" fmla="val 25538"/>
                <a:gd name="adj3" fmla="val 3453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vert"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DA315DD-5B44-0C42-82CD-324CF98B0F56}"/>
                </a:ext>
              </a:extLst>
            </p:cNvPr>
            <p:cNvSpPr txBox="1"/>
            <p:nvPr/>
          </p:nvSpPr>
          <p:spPr>
            <a:xfrm>
              <a:off x="8641702" y="701657"/>
              <a:ext cx="1228999" cy="502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No further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24B9E28-9BD7-0E48-9DB2-2752C3FA2126}"/>
                </a:ext>
              </a:extLst>
            </p:cNvPr>
            <p:cNvSpPr txBox="1"/>
            <p:nvPr/>
          </p:nvSpPr>
          <p:spPr>
            <a:xfrm rot="5400000">
              <a:off x="9000120" y="1496351"/>
              <a:ext cx="1692094" cy="350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procedure</a:t>
              </a:r>
            </a:p>
          </p:txBody>
        </p:sp>
      </p:grpSp>
      <p:sp>
        <p:nvSpPr>
          <p:cNvPr id="29" name="Bent-Up Arrow 31">
            <a:extLst>
              <a:ext uri="{FF2B5EF4-FFF2-40B4-BE49-F238E27FC236}">
                <a16:creationId xmlns:a16="http://schemas.microsoft.com/office/drawing/2014/main" id="{94A8EB4E-0F56-4F7B-967B-7CE8D8C9B252}"/>
              </a:ext>
            </a:extLst>
          </p:cNvPr>
          <p:cNvSpPr/>
          <p:nvPr/>
        </p:nvSpPr>
        <p:spPr>
          <a:xfrm>
            <a:off x="4890617" y="1015647"/>
            <a:ext cx="516174" cy="4003939"/>
          </a:xfrm>
          <a:prstGeom prst="bentUpArrow">
            <a:avLst>
              <a:gd name="adj1" fmla="val 29873"/>
              <a:gd name="adj2" fmla="val 27163"/>
              <a:gd name="adj3" fmla="val 33947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30" name="Bent-Up Arrow 31">
            <a:extLst>
              <a:ext uri="{FF2B5EF4-FFF2-40B4-BE49-F238E27FC236}">
                <a16:creationId xmlns:a16="http://schemas.microsoft.com/office/drawing/2014/main" id="{9F81F54F-238D-481C-8BC0-C2E1AFBCB9AF}"/>
              </a:ext>
            </a:extLst>
          </p:cNvPr>
          <p:cNvSpPr/>
          <p:nvPr/>
        </p:nvSpPr>
        <p:spPr>
          <a:xfrm>
            <a:off x="6455164" y="1031995"/>
            <a:ext cx="516174" cy="5655560"/>
          </a:xfrm>
          <a:prstGeom prst="bentUpArrow">
            <a:avLst>
              <a:gd name="adj1" fmla="val 29873"/>
              <a:gd name="adj2" fmla="val 27163"/>
              <a:gd name="adj3" fmla="val 33947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1" name="Bent-Up Arrow 31">
            <a:extLst>
              <a:ext uri="{FF2B5EF4-FFF2-40B4-BE49-F238E27FC236}">
                <a16:creationId xmlns:a16="http://schemas.microsoft.com/office/drawing/2014/main" id="{92E907DB-82BB-4533-8C1E-BED8FFDE87A6}"/>
              </a:ext>
            </a:extLst>
          </p:cNvPr>
          <p:cNvSpPr/>
          <p:nvPr/>
        </p:nvSpPr>
        <p:spPr>
          <a:xfrm>
            <a:off x="3098781" y="1010797"/>
            <a:ext cx="526070" cy="5653756"/>
          </a:xfrm>
          <a:prstGeom prst="bentUpArrow">
            <a:avLst>
              <a:gd name="adj1" fmla="val 29873"/>
              <a:gd name="adj2" fmla="val 27163"/>
              <a:gd name="adj3" fmla="val 33947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Bent-Up Arrow 31">
            <a:extLst>
              <a:ext uri="{FF2B5EF4-FFF2-40B4-BE49-F238E27FC236}">
                <a16:creationId xmlns:a16="http://schemas.microsoft.com/office/drawing/2014/main" id="{A90B2892-94C4-4523-A109-3015556845DF}"/>
              </a:ext>
            </a:extLst>
          </p:cNvPr>
          <p:cNvSpPr/>
          <p:nvPr/>
        </p:nvSpPr>
        <p:spPr>
          <a:xfrm>
            <a:off x="8482425" y="1020693"/>
            <a:ext cx="209956" cy="5643696"/>
          </a:xfrm>
          <a:prstGeom prst="bentUpArrow">
            <a:avLst>
              <a:gd name="adj1" fmla="val 50000"/>
              <a:gd name="adj2" fmla="val 43608"/>
              <a:gd name="adj3" fmla="val 33947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77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1464A6166181469C49C725459B6923" ma:contentTypeVersion="13" ma:contentTypeDescription="Create a new document." ma:contentTypeScope="" ma:versionID="39ddc578df463b54616c0a578e8cc081">
  <xsd:schema xmlns:xsd="http://www.w3.org/2001/XMLSchema" xmlns:xs="http://www.w3.org/2001/XMLSchema" xmlns:p="http://schemas.microsoft.com/office/2006/metadata/properties" xmlns:ns2="2cf7ef6d-5e41-4f56-8624-8e883e8b2f35" xmlns:ns3="8f8b1ad6-71cc-4892-9713-a17a52d9ef57" targetNamespace="http://schemas.microsoft.com/office/2006/metadata/properties" ma:root="true" ma:fieldsID="bb52453e56d07e3170b2e87c83315223" ns2:_="" ns3:_="">
    <xsd:import namespace="2cf7ef6d-5e41-4f56-8624-8e883e8b2f35"/>
    <xsd:import namespace="8f8b1ad6-71cc-4892-9713-a17a52d9ef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7ef6d-5e41-4f56-8624-8e883e8b2f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b1ad6-71cc-4892-9713-a17a52d9ef5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F75A5B-675B-4E21-B511-E282032B22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A0E2B1-CC5C-4520-B50E-BF965348D5EC}"/>
</file>

<file path=customXml/itemProps3.xml><?xml version="1.0" encoding="utf-8"?>
<ds:datastoreItem xmlns:ds="http://schemas.openxmlformats.org/officeDocument/2006/customXml" ds:itemID="{293C5E93-032E-445E-BD76-6898E0AF1156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2cf7ef6d-5e41-4f56-8624-8e883e8b2f35"/>
    <ds:schemaRef ds:uri="http://schemas.openxmlformats.org/package/2006/metadata/core-properties"/>
    <ds:schemaRef ds:uri="http://schemas.microsoft.com/office/infopath/2007/PartnerControls"/>
    <ds:schemaRef ds:uri="8f8b1ad6-71cc-4892-9713-a17a52d9ef5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249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Julianna Alson</dc:creator>
  <cp:lastModifiedBy>Anderson, Lauren</cp:lastModifiedBy>
  <cp:revision>68</cp:revision>
  <dcterms:created xsi:type="dcterms:W3CDTF">2020-02-25T06:35:14Z</dcterms:created>
  <dcterms:modified xsi:type="dcterms:W3CDTF">2021-02-02T15:34:07Z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0x010100451464A6166181469C49C725459B6923</vt:lpwstr>
  </property>
</Properties>
</file>